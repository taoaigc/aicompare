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57" r:id="rId6"/>
    <p:sldId id="258" r:id="rId7"/>
    <p:sldId id="259" r:id="rId8"/>
    <p:sldId id="260" r:id="rId9"/>
    <p:sldId id="261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周用户人数</c:f>
              <c:strCache>
                <c:ptCount val="1"/>
                <c:pt idx="0">
                  <c:v>周用户人数</c:v>
                </c:pt>
              </c:strCache>
            </c:strRef>
          </c:tx>
          <c:spPr>
            <a:ln w="28575" cap="rnd">
              <a:solidFill>
                <a:srgbClr val="FF7A3D"/>
              </a:solidFill>
              <a:prstDash val="solid"/>
              <a:round/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{"Jun 13","Jun 15","Jun 17","Jun 19","Jun 21","Jun 23"}</c:f>
              <c:strCache>
                <c:ptCount val="6"/>
                <c:pt idx="0">
                  <c:v>Jun 13</c:v>
                </c:pt>
                <c:pt idx="1">
                  <c:v>Jun 15</c:v>
                </c:pt>
                <c:pt idx="2">
                  <c:v>Jun 17</c:v>
                </c:pt>
                <c:pt idx="3">
                  <c:v>Jun 19</c:v>
                </c:pt>
                <c:pt idx="4">
                  <c:v>Jun 21</c:v>
                </c:pt>
                <c:pt idx="5">
                  <c:v>Jun 23</c:v>
                </c:pt>
              </c:strCache>
            </c:strRef>
          </c:cat>
          <c:val>
            <c:numRef>
              <c:f>{4300,5600,7200,8800,9100,9386}</c:f>
              <c:numCache>
                <c:formatCode>General</c:formatCode>
                <c:ptCount val="6"/>
                <c:pt idx="0">
                  <c:v>4300</c:v>
                </c:pt>
                <c:pt idx="1">
                  <c:v>5600</c:v>
                </c:pt>
                <c:pt idx="2">
                  <c:v>7200</c:v>
                </c:pt>
                <c:pt idx="3">
                  <c:v>8800</c:v>
                </c:pt>
                <c:pt idx="4">
                  <c:v>9100</c:v>
                </c:pt>
                <c:pt idx="5">
                  <c:v>9386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5ff654a-ac70-4984-b8f0-79c0d11e8e1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hyperlink" Target="https://chromewebstore.google.com/detail/ai-compare-%E2%80%94-multi-ai-com/dkhpgbbhlnmjbkihoeniojpkggkabbbl?hl=zh-CN" TargetMode="Externa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000875" y="0"/>
            <a:ext cx="5191125" cy="6858000"/>
          </a:xfrm>
          <a:prstGeom prst="rect">
            <a:avLst/>
          </a:prstGeom>
          <a:solidFill>
            <a:srgbClr val="24221F"/>
          </a:solidFill>
          <a:ln w="9525">
            <a:solidFill>
              <a:srgbClr val="2422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572375" y="8763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Supported AI stack</a:t>
            </a:r>
            <a:endParaRPr sz="180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572375" y="1257300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BCB0"/>
                </a:solidFill>
              </a:defRPr>
            </a:pPr>
            <a:r>
              <a:rPr sz="1350" b="0">
                <a:solidFill>
                  <a:srgbClr val="C7BCB0"/>
                </a:solidFill>
              </a:rPr>
              <a:t>ChatGPT / Gemini / Claude / DeepSeek / 豆包 / Kimi / Qwen / Grok ...</a:t>
            </a:r>
            <a:endParaRPr sz="1350" b="0">
              <a:solidFill>
                <a:srgbClr val="C7BCB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72375" y="22098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150" y="2314575"/>
            <a:ext cx="381000" cy="3810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448675" y="22098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0" y="2314575"/>
            <a:ext cx="381000" cy="3810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9324975" y="22098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2314575"/>
            <a:ext cx="381000" cy="3810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0201275" y="22098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6050" y="2314575"/>
            <a:ext cx="381000" cy="3810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7572375" y="31242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150" y="3228975"/>
            <a:ext cx="381000" cy="38100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8448675" y="31242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450" y="3228975"/>
            <a:ext cx="381000" cy="3810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9324975" y="31242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0" y="3228975"/>
            <a:ext cx="381000" cy="38100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10201275" y="31242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6050" y="3228975"/>
            <a:ext cx="381000" cy="3810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572375" y="40386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7150" y="4143375"/>
            <a:ext cx="381000" cy="38100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8448675" y="40386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3450" y="4143375"/>
            <a:ext cx="381000" cy="38100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9324975" y="40386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9750" y="4143375"/>
            <a:ext cx="381000" cy="38100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0201275" y="4038600"/>
            <a:ext cx="590550" cy="5905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6050" y="4143375"/>
            <a:ext cx="381000" cy="38100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7572375" y="53149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F7A3D"/>
                </a:solidFill>
              </a:defRPr>
            </a:pPr>
            <a:r>
              <a:rPr sz="2100" b="1">
                <a:solidFill>
                  <a:srgbClr val="FF7A3D"/>
                </a:solidFill>
              </a:rPr>
              <a:t>One prompt. Many answers. One workspace.</a:t>
            </a:r>
            <a:endParaRPr sz="2100" b="1">
              <a:solidFill>
                <a:srgbClr val="FF7A3D"/>
              </a:solidFill>
            </a:endParaRP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050" y="400050"/>
            <a:ext cx="685800" cy="68580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400050" y="1524000"/>
            <a:ext cx="8001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150" b="1">
                <a:solidFill>
                  <a:srgbClr val="F7F2EA"/>
                </a:solidFill>
              </a:defRPr>
            </a:pPr>
            <a:r>
              <a:rPr sz="6150" b="1">
                <a:solidFill>
                  <a:srgbClr val="F7F2EA"/>
                </a:solidFill>
              </a:rPr>
              <a:t>AI Compare</a:t>
            </a:r>
            <a:endParaRPr sz="6150" b="1">
              <a:solidFill>
                <a:srgbClr val="F7F2E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57200" y="255270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0">
                <a:solidFill>
                  <a:srgbClr val="F7F2EA"/>
                </a:solidFill>
              </a:defRPr>
            </a:pPr>
            <a:r>
              <a:rPr sz="2400" b="0">
                <a:solidFill>
                  <a:srgbClr val="F7F2EA"/>
                </a:solidFill>
              </a:rPr>
              <a:t>一键对比多个 AI 的回答</a:t>
            </a:r>
            <a:endParaRPr sz="2400" b="0">
              <a:solidFill>
                <a:srgbClr val="F7F2E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7200" y="512445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C7BCB0"/>
                </a:solidFill>
              </a:defRPr>
            </a:pPr>
            <a:r>
              <a:rPr lang="zh-CN" sz="1800" b="0">
                <a:solidFill>
                  <a:srgbClr val="C7BCB0"/>
                </a:solidFill>
              </a:rPr>
              <a:t>多模型时代的</a:t>
            </a:r>
            <a:r>
              <a:rPr lang="en-US" altLang="zh-CN" sz="1800" b="0">
                <a:solidFill>
                  <a:srgbClr val="C7BCB0"/>
                </a:solidFill>
              </a:rPr>
              <a:t>AI</a:t>
            </a:r>
            <a:r>
              <a:rPr lang="zh-CN" altLang="en-US" sz="1800" b="0">
                <a:solidFill>
                  <a:srgbClr val="C7BCB0"/>
                </a:solidFill>
              </a:rPr>
              <a:t>使用</a:t>
            </a:r>
            <a:r>
              <a:rPr lang="zh-CN" altLang="en-US" sz="1800" b="0">
                <a:solidFill>
                  <a:srgbClr val="C7BCB0"/>
                </a:solidFill>
              </a:rPr>
              <a:t>入口</a:t>
            </a:r>
            <a:endParaRPr lang="zh-CN" altLang="en-US" sz="1800" b="0">
              <a:solidFill>
                <a:srgbClr val="C7BCB0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57200" y="5810250"/>
            <a:ext cx="2476500" cy="400050"/>
          </a:xfrm>
          <a:prstGeom prst="roundRect">
            <a:avLst>
              <a:gd name="adj" fmla="val 28571"/>
            </a:avLst>
          </a:prstGeom>
          <a:solidFill>
            <a:srgbClr val="FF7A3D"/>
          </a:solidFill>
          <a:ln w="0">
            <a:solidFill>
              <a:srgbClr val="FF7A3D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  <a:hlinkClick r:id="rId14" tooltip="" action="ppaction://hlinkfile"/>
              </a:rPr>
              <a:t>Chrome </a:t>
            </a:r>
            <a:r>
              <a:rPr lang="en-US" sz="1350" b="1">
                <a:solidFill>
                  <a:srgbClr val="1C1A18"/>
                </a:solidFill>
                <a:hlinkClick r:id="rId14" tooltip="" action="ppaction://hlinkfile"/>
              </a:rPr>
              <a:t>extension</a:t>
            </a:r>
            <a:endParaRPr lang="en-US" sz="1350" b="1">
              <a:solidFill>
                <a:srgbClr val="1C1A1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lang="zh-CN" sz="1200" b="1">
                <a:solidFill>
                  <a:srgbClr val="C7BCB0"/>
                </a:solidFill>
              </a:rPr>
              <a:t>用户数据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85800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7F2EA"/>
                </a:solidFill>
              </a:defRPr>
            </a:pPr>
            <a:r>
              <a:rPr lang="zh-CN" sz="3150" b="1">
                <a:solidFill>
                  <a:srgbClr val="F7F2EA"/>
                </a:solidFill>
              </a:rPr>
              <a:t>一些</a:t>
            </a:r>
            <a:r>
              <a:rPr sz="3150" b="1">
                <a:solidFill>
                  <a:srgbClr val="F7F2EA"/>
                </a:solidFill>
              </a:rPr>
              <a:t>数据</a:t>
            </a:r>
            <a:endParaRPr sz="3150" b="1">
              <a:solidFill>
                <a:srgbClr val="F7F2E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1790700"/>
            <a:ext cx="4895850" cy="18669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38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7F2EA"/>
                </a:solidFill>
              </a:defRPr>
            </a:pPr>
            <a:r>
              <a:rPr sz="1725" b="1">
                <a:solidFill>
                  <a:srgbClr val="F7F2EA"/>
                </a:solidFill>
              </a:rPr>
              <a:t>周用户人数</a:t>
            </a:r>
            <a:endParaRPr sz="1725" b="1">
              <a:solidFill>
                <a:srgbClr val="F7F2E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3812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F7A3D"/>
                </a:solidFill>
              </a:defRPr>
            </a:pPr>
            <a:r>
              <a:rPr sz="3600" b="1">
                <a:solidFill>
                  <a:srgbClr val="FF7A3D"/>
                </a:solidFill>
              </a:rPr>
              <a:t>9,386</a:t>
            </a:r>
            <a:endParaRPr sz="3600" b="1">
              <a:solidFill>
                <a:srgbClr val="FF7A3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57500" y="2533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BCB0"/>
                </a:solidFill>
              </a:defRPr>
            </a:pPr>
            <a:r>
              <a:rPr sz="1350" b="0">
                <a:solidFill>
                  <a:srgbClr val="C7BCB0"/>
                </a:solidFill>
              </a:rPr>
              <a:t>2026年6月23日</a:t>
            </a:r>
            <a:endParaRPr sz="1350" b="0">
              <a:solidFill>
                <a:srgbClr val="C7BCB0"/>
              </a:solidFill>
            </a:endParaRPr>
          </a:p>
        </p:txBody>
      </p:sp>
      <p:graphicFrame>
        <p:nvGraphicFramePr>
          <p:cNvPr id="79" name="Chart"/>
          <p:cNvGraphicFramePr/>
          <p:nvPr/>
        </p:nvGraphicFramePr>
        <p:xfrm>
          <a:off x="781050" y="2895600"/>
          <a:ext cx="4191000" cy="628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矩形 10"/>
          <p:cNvSpPr>
            <a:spLocks noGrp="1"/>
          </p:cNvSpPr>
          <p:nvPr/>
        </p:nvSpPr>
        <p:spPr>
          <a:xfrm>
            <a:off x="5657850" y="1790700"/>
            <a:ext cx="2762250" cy="18669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24550" y="20383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7F2EA"/>
                </a:solidFill>
              </a:defRPr>
            </a:pPr>
            <a:r>
              <a:rPr sz="1725" b="1">
                <a:solidFill>
                  <a:srgbClr val="F7F2EA"/>
                </a:solidFill>
              </a:rPr>
              <a:t>商店评分</a:t>
            </a:r>
            <a:endParaRPr sz="1725" b="1">
              <a:solidFill>
                <a:srgbClr val="F7F2E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24550" y="2400300"/>
            <a:ext cx="161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800" b="1">
                <a:solidFill>
                  <a:srgbClr val="F7F2EA"/>
                </a:solidFill>
              </a:defRPr>
            </a:pPr>
            <a:r>
              <a:rPr sz="4800" b="1">
                <a:solidFill>
                  <a:srgbClr val="F7F2EA"/>
                </a:solidFill>
              </a:rPr>
              <a:t>4.66</a:t>
            </a:r>
            <a:endParaRPr sz="4800" b="1">
              <a:solidFill>
                <a:srgbClr val="F7F2E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62650" y="3143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0">
                <a:solidFill>
                  <a:srgbClr val="F5C57B"/>
                </a:solidFill>
              </a:defRPr>
            </a:pPr>
            <a:r>
              <a:rPr sz="2550" b="0">
                <a:solidFill>
                  <a:srgbClr val="F5C57B"/>
                </a:solidFill>
              </a:rPr>
              <a:t>★★★★★</a:t>
            </a:r>
            <a:endParaRPr sz="2550" b="0">
              <a:solidFill>
                <a:srgbClr val="F5C57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05850" y="1790700"/>
            <a:ext cx="3365500" cy="18669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20383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7F2EA"/>
                </a:solidFill>
              </a:defRPr>
            </a:pPr>
            <a:r>
              <a:rPr sz="1725" b="1">
                <a:solidFill>
                  <a:srgbClr val="F7F2EA"/>
                </a:solidFill>
              </a:rPr>
              <a:t>评分结构</a:t>
            </a:r>
            <a:endParaRPr sz="1725" b="1">
              <a:solidFill>
                <a:srgbClr val="F7F2E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972550" y="23812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5 星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01250" y="2428875"/>
            <a:ext cx="1571625" cy="114300"/>
          </a:xfrm>
          <a:prstGeom prst="rect">
            <a:avLst/>
          </a:prstGeom>
          <a:solidFill>
            <a:srgbClr val="3A352F"/>
          </a:solidFill>
          <a:ln w="9525">
            <a:solidFill>
              <a:srgbClr val="3A352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001250" y="2428875"/>
            <a:ext cx="1241584" cy="1143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1687175" y="23622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79%</a:t>
            </a:r>
            <a:endParaRPr sz="1125" b="1">
              <a:solidFill>
                <a:srgbClr val="F7F2E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6479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4 星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01250" y="2695575"/>
            <a:ext cx="1571625" cy="114300"/>
          </a:xfrm>
          <a:prstGeom prst="rect">
            <a:avLst/>
          </a:prstGeom>
          <a:solidFill>
            <a:srgbClr val="3A352F"/>
          </a:solidFill>
          <a:ln w="9525">
            <a:solidFill>
              <a:srgbClr val="3A352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001250" y="2695575"/>
            <a:ext cx="188595" cy="1143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687175" y="26289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12%</a:t>
            </a:r>
            <a:endParaRPr sz="1125" b="1">
              <a:solidFill>
                <a:srgbClr val="F7F2E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72550" y="29146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3 星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001250" y="2962275"/>
            <a:ext cx="1571625" cy="114300"/>
          </a:xfrm>
          <a:prstGeom prst="rect">
            <a:avLst/>
          </a:prstGeom>
          <a:solidFill>
            <a:srgbClr val="3A352F"/>
          </a:solidFill>
          <a:ln w="9525">
            <a:solidFill>
              <a:srgbClr val="3A352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001250" y="2962275"/>
            <a:ext cx="78581" cy="1143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1687175" y="28956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F7F2EA"/>
                </a:solidFill>
              </a:defRPr>
            </a:pPr>
            <a:r>
              <a:rPr sz="1125" b="0">
                <a:solidFill>
                  <a:srgbClr val="F7F2EA"/>
                </a:solidFill>
              </a:rPr>
              <a:t>5%</a:t>
            </a:r>
            <a:endParaRPr sz="1125" b="0">
              <a:solidFill>
                <a:srgbClr val="F7F2E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72550" y="31813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2 星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001250" y="3228975"/>
            <a:ext cx="1571625" cy="114300"/>
          </a:xfrm>
          <a:prstGeom prst="rect">
            <a:avLst/>
          </a:prstGeom>
          <a:solidFill>
            <a:srgbClr val="3A352F"/>
          </a:solidFill>
          <a:ln w="9525">
            <a:solidFill>
              <a:srgbClr val="3A352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001250" y="3228975"/>
            <a:ext cx="57150" cy="1143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687175" y="31623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F7F2EA"/>
                </a:solidFill>
              </a:defRPr>
            </a:pPr>
            <a:r>
              <a:rPr sz="1125" b="0">
                <a:solidFill>
                  <a:srgbClr val="F7F2EA"/>
                </a:solidFill>
              </a:rPr>
              <a:t>2%</a:t>
            </a:r>
            <a:endParaRPr sz="1125" b="0">
              <a:solidFill>
                <a:srgbClr val="F7F2E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972550" y="34480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1 星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001250" y="3495675"/>
            <a:ext cx="1571625" cy="114300"/>
          </a:xfrm>
          <a:prstGeom prst="rect">
            <a:avLst/>
          </a:prstGeom>
          <a:solidFill>
            <a:srgbClr val="3A352F"/>
          </a:solidFill>
          <a:ln w="9525">
            <a:solidFill>
              <a:srgbClr val="3A352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001250" y="3495675"/>
            <a:ext cx="57150" cy="1143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1687175" y="3429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F7F2EA"/>
                </a:solidFill>
              </a:defRPr>
            </a:pPr>
            <a:r>
              <a:rPr sz="1125" b="0">
                <a:solidFill>
                  <a:srgbClr val="F7F2EA"/>
                </a:solidFill>
              </a:rPr>
              <a:t>2%</a:t>
            </a:r>
            <a:endParaRPr sz="1125" b="0">
              <a:solidFill>
                <a:srgbClr val="F7F2EA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4350" y="4000500"/>
            <a:ext cx="11163300" cy="23050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" y="4229100"/>
            <a:ext cx="3898900" cy="360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地区分布 Top 10</a:t>
            </a:r>
            <a:r>
              <a:rPr lang="zh-CN" sz="1800" b="1">
                <a:solidFill>
                  <a:srgbClr val="F7F2EA"/>
                </a:solidFill>
                <a:ea typeface="宋体" charset="0"/>
              </a:rPr>
              <a:t>（最新</a:t>
            </a:r>
            <a:r>
              <a:rPr lang="en-US" altLang="zh-CN" sz="1800" b="1">
                <a:solidFill>
                  <a:srgbClr val="F7F2EA"/>
                </a:solidFill>
                <a:ea typeface="宋体" charset="0"/>
              </a:rPr>
              <a:t>30</a:t>
            </a:r>
            <a:r>
              <a:rPr lang="zh-CN" altLang="en-US" sz="1800" b="1">
                <a:solidFill>
                  <a:srgbClr val="F7F2EA"/>
                </a:solidFill>
                <a:ea typeface="宋体" charset="0"/>
              </a:rPr>
              <a:t>天</a:t>
            </a:r>
            <a:r>
              <a:rPr lang="zh-CN" sz="1800" b="1">
                <a:solidFill>
                  <a:srgbClr val="F7F2EA"/>
                </a:solidFill>
                <a:ea typeface="宋体" charset="0"/>
              </a:rPr>
              <a:t>）</a:t>
            </a:r>
            <a:endParaRPr lang="zh-CN" sz="1800" b="1">
              <a:solidFill>
                <a:srgbClr val="F7F2EA"/>
              </a:solidFill>
              <a:ea typeface="宋体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1050" y="46291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1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00150" y="46291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United States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3486150" y="46291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17.01%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81050" y="48577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2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200150" y="48577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China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486150" y="48577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8.51%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81050" y="50863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3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00150" y="50863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India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486150" y="50863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7.47%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81050" y="5314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4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200150" y="53149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Hong Kong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486150" y="53149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7.12%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81050" y="5543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5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200150" y="5543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Japan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486150" y="55435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6.42%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191250" y="46291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6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610350" y="46291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Brazil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896350" y="46291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5.90%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191250" y="48577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7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610350" y="48577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Singapore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896350" y="48577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5.73%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191250" y="50863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8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610350" y="50863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South Korea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896350" y="50863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5.56%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6191250" y="5314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9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610350" y="53149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Taiwan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896350" y="53149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3.47%</a:t>
            </a:r>
            <a:endParaRPr sz="1200" b="0">
              <a:solidFill>
                <a:srgbClr val="C7BCB0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191250" y="5543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58C82"/>
                </a:solidFill>
              </a:defRPr>
            </a:pPr>
            <a:r>
              <a:rPr sz="1050" b="0">
                <a:solidFill>
                  <a:srgbClr val="958C82"/>
                </a:solidFill>
              </a:rPr>
              <a:t>10</a:t>
            </a:r>
            <a:endParaRPr sz="1050" b="0">
              <a:solidFill>
                <a:srgbClr val="958C82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610350" y="5543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Germany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896350" y="55435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sz="1200" b="0">
                <a:solidFill>
                  <a:srgbClr val="C7BCB0"/>
                </a:solidFill>
              </a:rPr>
              <a:t>2.60%</a:t>
            </a:r>
            <a:endParaRPr sz="1200" b="0">
              <a:solidFill>
                <a:srgbClr val="C7BCB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lang="zh-CN" sz="1200" b="1">
                <a:solidFill>
                  <a:srgbClr val="C7BCB0"/>
                </a:solidFill>
              </a:rPr>
              <a:t>用户</a:t>
            </a:r>
            <a:r>
              <a:rPr lang="zh-CN" sz="1200" b="1">
                <a:solidFill>
                  <a:srgbClr val="C7BCB0"/>
                </a:solidFill>
              </a:rPr>
              <a:t>反馈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83820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F7F2EA"/>
                </a:solidFill>
              </a:defRPr>
            </a:pPr>
            <a:r>
              <a:rPr sz="4050" b="1">
                <a:solidFill>
                  <a:srgbClr val="F7F2EA"/>
                </a:solidFill>
              </a:rPr>
              <a:t>用户真实反馈</a:t>
            </a:r>
            <a:endParaRPr sz="4050" b="1">
              <a:solidFill>
                <a:srgbClr val="F7F2E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381250"/>
            <a:ext cx="3333750" cy="31432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381250"/>
            <a:ext cx="3333750" cy="5715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6098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Chrome / Edge 商店评论</a:t>
            </a:r>
            <a:endParaRPr sz="1650" b="1">
              <a:solidFill>
                <a:srgbClr val="F7F2E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00550" y="2381250"/>
            <a:ext cx="3333750" cy="31432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00550" y="2381250"/>
            <a:ext cx="3333750" cy="5715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29150" y="26098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社群 / 微信用户反馈</a:t>
            </a:r>
            <a:endParaRPr sz="1650" b="1">
              <a:solidFill>
                <a:srgbClr val="F7F2E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48650" y="2381250"/>
            <a:ext cx="3333750" cy="31432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381250"/>
            <a:ext cx="3333750" cy="5715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477250" y="26098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海外用户 / 邮件反馈</a:t>
            </a:r>
            <a:endParaRPr sz="1650" b="1">
              <a:solidFill>
                <a:srgbClr val="F7F2EA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 l="18132" r="18282"/>
          <a:stretch>
            <a:fillRect/>
          </a:stretch>
        </p:blipFill>
        <p:spPr>
          <a:xfrm>
            <a:off x="984250" y="3285490"/>
            <a:ext cx="2272665" cy="70231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15" y="4725035"/>
            <a:ext cx="2279650" cy="5607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r="17999"/>
          <a:stretch>
            <a:fillRect/>
          </a:stretch>
        </p:blipFill>
        <p:spPr>
          <a:xfrm>
            <a:off x="8541385" y="3070225"/>
            <a:ext cx="2771775" cy="10814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4214495"/>
            <a:ext cx="2747010" cy="206502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835" y="3077845"/>
            <a:ext cx="2743200" cy="150939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410" y="4714240"/>
            <a:ext cx="3066415" cy="100139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250" y="4171950"/>
            <a:ext cx="2479675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01 / </a:t>
            </a:r>
            <a:r>
              <a:rPr lang="zh-CN" sz="1200" b="1">
                <a:solidFill>
                  <a:srgbClr val="C7BCB0"/>
                </a:solidFill>
              </a:rPr>
              <a:t>用户</a:t>
            </a:r>
            <a:r>
              <a:rPr lang="zh-CN" sz="1200" b="1">
                <a:solidFill>
                  <a:srgbClr val="C7BCB0"/>
                </a:solidFill>
              </a:rPr>
              <a:t>问题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23900"/>
            <a:ext cx="987298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7F2EA"/>
                </a:solidFill>
              </a:defRPr>
            </a:pPr>
            <a:r>
              <a:rPr sz="3450" b="1">
                <a:solidFill>
                  <a:srgbClr val="F7F2EA"/>
                </a:solidFill>
              </a:rPr>
              <a:t>用户已经有很多 AI，问题是协同成本太高</a:t>
            </a:r>
            <a:endParaRPr sz="345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038350"/>
            <a:ext cx="762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952625"/>
            <a:ext cx="977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F7F2EA"/>
                </a:solidFill>
              </a:defRPr>
            </a:pPr>
            <a:r>
              <a:rPr sz="1650" b="0">
                <a:solidFill>
                  <a:srgbClr val="F7F2EA"/>
                </a:solidFill>
              </a:rPr>
              <a:t>AI 工具爆炸式增长：同一个问题常常要在 ChatGPT、Gemini、Claude、DeepSeek、豆包等多个站点重复输入。</a:t>
            </a:r>
            <a:endParaRPr sz="1650" b="0">
              <a:solidFill>
                <a:srgbClr val="F7F2E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724150"/>
            <a:ext cx="762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638425"/>
            <a:ext cx="977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F7F2EA"/>
                </a:solidFill>
              </a:defRPr>
            </a:pPr>
            <a:r>
              <a:rPr sz="1650" b="0">
                <a:solidFill>
                  <a:srgbClr val="F7F2EA"/>
                </a:solidFill>
              </a:rPr>
              <a:t>答案质量不稳定：用户需要横向比较速度、深度、事实性、风格，才能挑出真正可用的结果。</a:t>
            </a:r>
            <a:endParaRPr sz="1650" b="0">
              <a:solidFill>
                <a:srgbClr val="F7F2E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409950"/>
            <a:ext cx="762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3324225"/>
            <a:ext cx="977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F7F2EA"/>
                </a:solidFill>
              </a:defRPr>
            </a:pPr>
            <a:r>
              <a:rPr sz="1650" b="0">
                <a:solidFill>
                  <a:srgbClr val="F7F2EA"/>
                </a:solidFill>
              </a:rPr>
              <a:t>跨站工作流割裂：复制、粘贴、整理、分享、保存历史都靠手工完成，越重度使用越耗时。</a:t>
            </a:r>
            <a:endParaRPr sz="1650" b="0">
              <a:solidFill>
                <a:srgbClr val="F7F2E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5791200"/>
            <a:ext cx="11391900" cy="19050"/>
          </a:xfrm>
          <a:prstGeom prst="rect">
            <a:avLst/>
          </a:prstGeom>
          <a:solidFill>
            <a:srgbClr val="F7F2EA"/>
          </a:solidFill>
          <a:ln w="9525">
            <a:solidFill>
              <a:srgbClr val="F7F2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9817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核心痛点：AI 选择越多，用户的“比较、组织、复用”负担越重。</a:t>
            </a:r>
            <a:endParaRPr sz="1800" b="1">
              <a:solidFill>
                <a:srgbClr val="F7F2E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02 / </a:t>
            </a:r>
            <a:r>
              <a:rPr lang="zh-CN" sz="1200" b="1">
                <a:solidFill>
                  <a:srgbClr val="C7BCB0"/>
                </a:solidFill>
              </a:rPr>
              <a:t>解决</a:t>
            </a:r>
            <a:r>
              <a:rPr lang="zh-CN" sz="1200" b="1">
                <a:solidFill>
                  <a:srgbClr val="C7BCB0"/>
                </a:solidFill>
              </a:rPr>
              <a:t>方案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23900"/>
            <a:ext cx="1035177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7F2EA"/>
                </a:solidFill>
              </a:defRPr>
            </a:pPr>
            <a:r>
              <a:rPr sz="3450" b="1">
                <a:solidFill>
                  <a:srgbClr val="F7F2EA"/>
                </a:solidFill>
              </a:rPr>
              <a:t>AI Compare 把多 AI 使用变成一次输入、一次对比</a:t>
            </a:r>
            <a:endParaRPr sz="345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114550"/>
            <a:ext cx="2476500" cy="12192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286000"/>
            <a:ext cx="2057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F7A3D"/>
                </a:solidFill>
              </a:defRPr>
            </a:pPr>
            <a:r>
              <a:rPr sz="3300" b="1">
                <a:solidFill>
                  <a:srgbClr val="FF7A3D"/>
                </a:solidFill>
              </a:rPr>
              <a:t>1 次</a:t>
            </a:r>
            <a:endParaRPr sz="3300" b="1">
              <a:solidFill>
                <a:srgbClr val="FF7A3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87655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BCB0"/>
                </a:solidFill>
              </a:defRPr>
            </a:pPr>
            <a:r>
              <a:rPr sz="1350" b="0">
                <a:solidFill>
                  <a:srgbClr val="C7BCB0"/>
                </a:solidFill>
              </a:rPr>
              <a:t>输入问题</a:t>
            </a:r>
            <a:endParaRPr sz="1350" b="0">
              <a:solidFill>
                <a:srgbClr val="C7BCB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62350" y="2114550"/>
            <a:ext cx="2476500" cy="12192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771900" y="2286000"/>
            <a:ext cx="2057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F7A3D"/>
                </a:solidFill>
              </a:defRPr>
            </a:pPr>
            <a:r>
              <a:rPr sz="3300" b="1">
                <a:solidFill>
                  <a:srgbClr val="FF7A3D"/>
                </a:solidFill>
              </a:rPr>
              <a:t>N 个</a:t>
            </a:r>
            <a:endParaRPr sz="3300" b="1">
              <a:solidFill>
                <a:srgbClr val="FF7A3D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771900" y="287655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BCB0"/>
                </a:solidFill>
              </a:defRPr>
            </a:pPr>
            <a:r>
              <a:rPr sz="1350" b="0">
                <a:solidFill>
                  <a:srgbClr val="C7BCB0"/>
                </a:solidFill>
              </a:rPr>
              <a:t>AI 同步回答</a:t>
            </a:r>
            <a:endParaRPr sz="1350" b="0">
              <a:solidFill>
                <a:srgbClr val="C7BCB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2114550"/>
            <a:ext cx="2476500" cy="12192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648450" y="2286000"/>
            <a:ext cx="2057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F7A3D"/>
                </a:solidFill>
              </a:defRPr>
            </a:pPr>
            <a:r>
              <a:rPr sz="3300" b="1">
                <a:solidFill>
                  <a:srgbClr val="FF7A3D"/>
                </a:solidFill>
              </a:rPr>
              <a:t>1 页</a:t>
            </a:r>
            <a:endParaRPr sz="3300" b="1">
              <a:solidFill>
                <a:srgbClr val="FF7A3D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48450" y="287655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BCB0"/>
                </a:solidFill>
              </a:defRPr>
            </a:pPr>
            <a:r>
              <a:rPr sz="1350" b="0">
                <a:solidFill>
                  <a:srgbClr val="C7BCB0"/>
                </a:solidFill>
              </a:rPr>
              <a:t>横向比较与复用</a:t>
            </a:r>
            <a:endParaRPr sz="1350" b="0">
              <a:solidFill>
                <a:srgbClr val="C7BCB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315450" y="2114550"/>
            <a:ext cx="2095500" cy="12192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525000" y="22860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F7A3D"/>
                </a:solidFill>
              </a:defRPr>
            </a:pPr>
            <a:r>
              <a:rPr sz="3300" b="1">
                <a:solidFill>
                  <a:srgbClr val="FF7A3D"/>
                </a:solidFill>
              </a:rPr>
              <a:t>1 键</a:t>
            </a:r>
            <a:endParaRPr sz="3300" b="1">
              <a:solidFill>
                <a:srgbClr val="FF7A3D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0" y="2876550"/>
            <a:ext cx="1676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BCB0"/>
                </a:solidFill>
              </a:defRPr>
            </a:pPr>
            <a:r>
              <a:rPr sz="1350" b="0">
                <a:solidFill>
                  <a:srgbClr val="C7BCB0"/>
                </a:solidFill>
              </a:rPr>
              <a:t>摘要、收藏、分享</a:t>
            </a:r>
            <a:endParaRPr sz="1350" b="0">
              <a:solidFill>
                <a:srgbClr val="C7BCB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4181475"/>
            <a:ext cx="762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43000" y="4095750"/>
            <a:ext cx="986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多站 iframe 比较页：同一页面嵌入多个 AI 站点，同步发送查询并并排查看。</a:t>
            </a:r>
            <a:endParaRPr sz="1500" b="0">
              <a:solidFill>
                <a:srgbClr val="F7F2E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657725"/>
            <a:ext cx="762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43000" y="4572000"/>
            <a:ext cx="986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侧边栏 / 首页入口：扩展图标或快捷键唤起，选择站点后直接 PK。</a:t>
            </a:r>
            <a:endParaRPr sz="1500" b="0">
              <a:solidFill>
                <a:srgbClr val="F7F2E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5133975"/>
            <a:ext cx="762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43000" y="5048250"/>
            <a:ext cx="986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文本选择、搜索引擎、右键菜单、地址栏 omnibox：把 AI Compare 接到用户原有浏览路径里。</a:t>
            </a:r>
            <a:endParaRPr sz="1500" b="0">
              <a:solidFill>
                <a:srgbClr val="F7F2E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5610225"/>
            <a:ext cx="762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5524500"/>
            <a:ext cx="986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历史、收藏、提示词模板、文件上传、深度研究开关：把一次比较沉淀为可复用资产。</a:t>
            </a:r>
            <a:endParaRPr sz="1500" b="0">
              <a:solidFill>
                <a:srgbClr val="F7F2E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03 / </a:t>
            </a:r>
            <a:r>
              <a:rPr lang="zh-CN" sz="1200" b="1">
                <a:solidFill>
                  <a:srgbClr val="C7BCB0"/>
                </a:solidFill>
              </a:rPr>
              <a:t>体验</a:t>
            </a:r>
            <a:r>
              <a:rPr lang="zh-CN" sz="1200" b="1">
                <a:solidFill>
                  <a:srgbClr val="C7BCB0"/>
                </a:solidFill>
              </a:rPr>
              <a:t>优势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914400"/>
            <a:ext cx="1018286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F7F2EA"/>
                </a:solidFill>
              </a:defRPr>
            </a:pPr>
            <a:r>
              <a:rPr lang="en-US" sz="4050" b="1">
                <a:solidFill>
                  <a:srgbClr val="F7F2EA"/>
                </a:solidFill>
              </a:rPr>
              <a:t>10</a:t>
            </a:r>
            <a:r>
              <a:rPr lang="zh-CN" altLang="en-US" sz="4050" b="1">
                <a:solidFill>
                  <a:srgbClr val="F7F2EA"/>
                </a:solidFill>
              </a:rPr>
              <a:t>倍的</a:t>
            </a:r>
            <a:r>
              <a:rPr lang="zh-CN" altLang="en-US" sz="4050" b="1">
                <a:solidFill>
                  <a:srgbClr val="F7F2EA"/>
                </a:solidFill>
              </a:rPr>
              <a:t>体验提升</a:t>
            </a:r>
            <a:endParaRPr lang="zh-CN" altLang="en-US" sz="4050" b="1">
              <a:solidFill>
                <a:srgbClr val="F7F2E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32200" y="278130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958C82"/>
                </a:solidFill>
              </a:defRPr>
            </a:pPr>
            <a:r>
              <a:rPr sz="1200" b="1">
                <a:solidFill>
                  <a:srgbClr val="958C82"/>
                </a:solidFill>
              </a:rPr>
              <a:t>维度</a:t>
            </a:r>
            <a:endParaRPr sz="1200" b="1">
              <a:solidFill>
                <a:srgbClr val="958C8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70450" y="27813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958C82"/>
                </a:solidFill>
              </a:defRPr>
            </a:pPr>
            <a:r>
              <a:rPr sz="1125" b="0">
                <a:solidFill>
                  <a:srgbClr val="958C82"/>
                </a:solidFill>
              </a:rPr>
              <a:t>手动切换</a:t>
            </a:r>
            <a:endParaRPr sz="1125" b="0">
              <a:solidFill>
                <a:srgbClr val="958C8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42100" y="2781300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958C82"/>
                </a:solidFill>
              </a:defRPr>
            </a:pPr>
            <a:r>
              <a:rPr sz="1125" b="0">
                <a:solidFill>
                  <a:srgbClr val="958C82"/>
                </a:solidFill>
              </a:rPr>
              <a:t>AI 比一比</a:t>
            </a:r>
            <a:endParaRPr sz="1125" b="0">
              <a:solidFill>
                <a:srgbClr val="958C8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13150" y="3143250"/>
            <a:ext cx="4667250" cy="9525"/>
          </a:xfrm>
          <a:prstGeom prst="rect">
            <a:avLst/>
          </a:prstGeom>
          <a:solidFill>
            <a:srgbClr val="575047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632200" y="323850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切换成本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70450" y="32385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重复打开多个页面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42100" y="3238500"/>
            <a:ext cx="1600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一次触发，多站同步</a:t>
            </a:r>
            <a:endParaRPr sz="1125" b="1">
              <a:solidFill>
                <a:srgbClr val="F7F2E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613150" y="3600450"/>
            <a:ext cx="4667250" cy="9525"/>
          </a:xfrm>
          <a:prstGeom prst="rect">
            <a:avLst/>
          </a:prstGeom>
          <a:solidFill>
            <a:srgbClr val="575047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632200" y="369570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结果管理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870450" y="3695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零散留在各站点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42100" y="3695700"/>
            <a:ext cx="296037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历史、收藏、导出统一沉淀</a:t>
            </a:r>
            <a:endParaRPr sz="1125" b="1">
              <a:solidFill>
                <a:srgbClr val="F7F2E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613150" y="4057650"/>
            <a:ext cx="4667250" cy="9525"/>
          </a:xfrm>
          <a:prstGeom prst="rect">
            <a:avLst/>
          </a:prstGeom>
          <a:solidFill>
            <a:srgbClr val="575047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632200" y="415290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7F2EA"/>
                </a:solidFill>
              </a:defRPr>
            </a:pPr>
            <a:r>
              <a:rPr sz="1200" b="1">
                <a:solidFill>
                  <a:srgbClr val="F7F2EA"/>
                </a:solidFill>
              </a:rPr>
              <a:t>扩展性</a:t>
            </a:r>
            <a:endParaRPr sz="1200" b="1">
              <a:solidFill>
                <a:srgbClr val="F7F2E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870450" y="4152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7BCB0"/>
                </a:solidFill>
              </a:defRPr>
            </a:pPr>
            <a:r>
              <a:rPr sz="1125" b="0">
                <a:solidFill>
                  <a:srgbClr val="C7BCB0"/>
                </a:solidFill>
              </a:rPr>
              <a:t>只能靠人工复制流程</a:t>
            </a:r>
            <a:endParaRPr sz="1125" b="0">
              <a:solidFill>
                <a:srgbClr val="C7BCB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42100" y="4152900"/>
            <a:ext cx="269430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站点配置化，后续扩展更容易</a:t>
            </a:r>
            <a:endParaRPr sz="1125" b="1">
              <a:solidFill>
                <a:srgbClr val="F7F2E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04 / </a:t>
            </a:r>
            <a:r>
              <a:rPr lang="zh-CN" sz="1200" b="1">
                <a:solidFill>
                  <a:srgbClr val="C7BCB0"/>
                </a:solidFill>
              </a:rPr>
              <a:t>市场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23900"/>
            <a:ext cx="11277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lvl="1" algn="l">
              <a:defRPr sz="3450" b="1">
                <a:solidFill>
                  <a:srgbClr val="F7F2EA"/>
                </a:solidFill>
              </a:defRPr>
            </a:pPr>
            <a:r>
              <a:rPr lang="zh-CN" altLang="en-US">
                <a:sym typeface="+mn-ea"/>
              </a:rPr>
              <a:t>“多 </a:t>
            </a:r>
            <a:r>
              <a:rPr lang="en-US" altLang="zh-CN">
                <a:sym typeface="+mn-ea"/>
              </a:rPr>
              <a:t>AI </a:t>
            </a:r>
            <a:r>
              <a:rPr lang="zh-CN" altLang="en-US">
                <a:sym typeface="+mn-ea"/>
              </a:rPr>
              <a:t>共存会成为长期状态”。</a:t>
            </a:r>
            <a:endParaRPr lang="zh-CN" altLang="en-US">
              <a:sym typeface="+mn-ea"/>
            </a:endParaRPr>
          </a:p>
          <a:p>
            <a:pPr lvl="1" algn="l">
              <a:defRPr sz="3450" b="1">
                <a:solidFill>
                  <a:srgbClr val="F7F2EA"/>
                </a:solidFill>
              </a:defRPr>
            </a:pPr>
            <a:r>
              <a:rPr lang="zh-CN" altLang="en-US">
                <a:sym typeface="+mn-ea"/>
              </a:rPr>
              <a:t>用户会持续在多个模型之间选择，比较层有机会成为稳定入口。</a:t>
            </a:r>
            <a:endParaRPr sz="345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3173095"/>
            <a:ext cx="11163300" cy="6096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331597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内容创作者</a:t>
            </a:r>
            <a:endParaRPr sz="1650" b="1">
              <a:solidFill>
                <a:srgbClr val="F7F2E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57500" y="331597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选题、脚本、标题、翻译、平台改写</a:t>
            </a:r>
            <a:endParaRPr sz="1500" b="0">
              <a:solidFill>
                <a:srgbClr val="F7F2E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0" y="331597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C7BCB0"/>
                </a:solidFill>
              </a:defRPr>
            </a:pPr>
            <a:r>
              <a:rPr sz="1500" b="0">
                <a:solidFill>
                  <a:srgbClr val="C7BCB0"/>
                </a:solidFill>
              </a:rPr>
              <a:t>需要速度与多风格输出</a:t>
            </a:r>
            <a:endParaRPr sz="1500" b="0">
              <a:solidFill>
                <a:srgbClr val="C7BCB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" y="3954145"/>
            <a:ext cx="11163300" cy="609600"/>
          </a:xfrm>
          <a:prstGeom prst="rect">
            <a:avLst/>
          </a:prstGeom>
          <a:solidFill>
            <a:srgbClr val="38342F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09702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产品 / 运营</a:t>
            </a:r>
            <a:endParaRPr sz="1650" b="1">
              <a:solidFill>
                <a:srgbClr val="F7F2E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57500" y="409702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调研、PRD、竞品分析、用户反馈归纳</a:t>
            </a:r>
            <a:endParaRPr sz="1500" b="0">
              <a:solidFill>
                <a:srgbClr val="F7F2E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0" y="409702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C7BCB0"/>
                </a:solidFill>
              </a:defRPr>
            </a:pPr>
            <a:r>
              <a:rPr sz="1500" b="0">
                <a:solidFill>
                  <a:srgbClr val="C7BCB0"/>
                </a:solidFill>
              </a:rPr>
              <a:t>需要多模型交叉验证</a:t>
            </a:r>
            <a:endParaRPr sz="1500" b="0">
              <a:solidFill>
                <a:srgbClr val="C7BCB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4350" y="4735195"/>
            <a:ext cx="11163300" cy="6096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487807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外贸 / 跨境</a:t>
            </a:r>
            <a:endParaRPr sz="1650" b="1">
              <a:solidFill>
                <a:srgbClr val="F7F2E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57500" y="487807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多语言沟通、商品描述、邮件与客服</a:t>
            </a:r>
            <a:endParaRPr sz="1500" b="0">
              <a:solidFill>
                <a:srgbClr val="F7F2E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10500" y="487807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C7BCB0"/>
                </a:solidFill>
              </a:defRPr>
            </a:pPr>
            <a:r>
              <a:rPr sz="1500" b="0">
                <a:solidFill>
                  <a:srgbClr val="C7BCB0"/>
                </a:solidFill>
              </a:rPr>
              <a:t>需要翻译与模板复用</a:t>
            </a:r>
            <a:endParaRPr sz="1500" b="0">
              <a:solidFill>
                <a:srgbClr val="C7BCB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4350" y="5516245"/>
            <a:ext cx="11163300" cy="609600"/>
          </a:xfrm>
          <a:prstGeom prst="rect">
            <a:avLst/>
          </a:prstGeom>
          <a:solidFill>
            <a:srgbClr val="38342F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5659120"/>
            <a:ext cx="2114550" cy="25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开发者 / 独立工作者</a:t>
            </a:r>
            <a:endParaRPr sz="1650" b="1">
              <a:solidFill>
                <a:srgbClr val="F7F2E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57500" y="565912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代码解释、方案比较、技术检索</a:t>
            </a:r>
            <a:endParaRPr sz="1500" b="0">
              <a:solidFill>
                <a:srgbClr val="F7F2E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565912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C7BCB0"/>
                </a:solidFill>
              </a:defRPr>
            </a:pPr>
            <a:r>
              <a:rPr sz="1500" b="0">
                <a:solidFill>
                  <a:srgbClr val="C7BCB0"/>
                </a:solidFill>
              </a:rPr>
              <a:t>需要一键对比与保存</a:t>
            </a:r>
            <a:endParaRPr sz="1500" b="0">
              <a:solidFill>
                <a:srgbClr val="C7BCB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0</a:t>
            </a:r>
            <a:r>
              <a:rPr lang="en-US" sz="1200" b="1">
                <a:solidFill>
                  <a:srgbClr val="C7BCB0"/>
                </a:solidFill>
              </a:rPr>
              <a:t>5</a:t>
            </a:r>
            <a:r>
              <a:rPr sz="1200" b="1">
                <a:solidFill>
                  <a:srgbClr val="C7BCB0"/>
                </a:solidFill>
              </a:rPr>
              <a:t> / </a:t>
            </a:r>
            <a:r>
              <a:rPr lang="zh-CN" sz="1200" b="1">
                <a:solidFill>
                  <a:srgbClr val="C7BCB0"/>
                </a:solidFill>
              </a:rPr>
              <a:t>商业</a:t>
            </a:r>
            <a:r>
              <a:rPr lang="zh-CN" sz="1200" b="1">
                <a:solidFill>
                  <a:srgbClr val="C7BCB0"/>
                </a:solidFill>
              </a:rPr>
              <a:t>模式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23900"/>
            <a:ext cx="1120584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7F2EA"/>
                </a:solidFill>
              </a:defRPr>
            </a:pPr>
            <a:r>
              <a:rPr sz="3450" b="1">
                <a:solidFill>
                  <a:srgbClr val="F7F2EA"/>
                </a:solidFill>
              </a:rPr>
              <a:t>商业模式：免费分发 + Pro 订阅 + 官方 API 计量</a:t>
            </a:r>
            <a:endParaRPr sz="345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868805" y="1790700"/>
            <a:ext cx="3390900" cy="35242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909435" y="1790700"/>
            <a:ext cx="3390900" cy="35242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135505" y="21145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7F2EA"/>
                </a:solidFill>
              </a:defRPr>
            </a:pPr>
            <a:r>
              <a:rPr sz="3150" b="1">
                <a:solidFill>
                  <a:srgbClr val="F7F2EA"/>
                </a:solidFill>
              </a:rPr>
              <a:t>Free</a:t>
            </a:r>
            <a:endParaRPr sz="3150" b="1">
              <a:solidFill>
                <a:srgbClr val="F7F2E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35505" y="2781300"/>
            <a:ext cx="247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C7BCB0"/>
                </a:solidFill>
              </a:defRPr>
            </a:pPr>
            <a:r>
              <a:rPr sz="1650" b="0">
                <a:solidFill>
                  <a:srgbClr val="C7BCB0"/>
                </a:solidFill>
              </a:rPr>
              <a:t>默认入口与基础比较能力，驱动安装、口碑和站点覆盖。</a:t>
            </a:r>
            <a:endParaRPr sz="1650" b="0">
              <a:solidFill>
                <a:srgbClr val="C7BCB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76135" y="21145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7A3D"/>
                </a:solidFill>
              </a:defRPr>
            </a:pPr>
            <a:r>
              <a:rPr sz="3150" b="1">
                <a:solidFill>
                  <a:srgbClr val="FF7A3D"/>
                </a:solidFill>
              </a:rPr>
              <a:t>Pro</a:t>
            </a:r>
            <a:endParaRPr sz="3150" b="1">
              <a:solidFill>
                <a:srgbClr val="FF7A3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76135" y="27813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C7BCB0"/>
                </a:solidFill>
              </a:defRPr>
            </a:pPr>
            <a:r>
              <a:rPr lang="zh-CN" sz="1500" b="0">
                <a:solidFill>
                  <a:srgbClr val="C7BCB0"/>
                </a:solidFill>
              </a:rPr>
              <a:t>按月订阅</a:t>
            </a:r>
            <a:r>
              <a:rPr lang="zh-CN" sz="1500" b="0">
                <a:solidFill>
                  <a:srgbClr val="C7BCB0"/>
                </a:solidFill>
              </a:rPr>
              <a:t>付费</a:t>
            </a:r>
            <a:endParaRPr lang="zh-CN" sz="1500" b="0">
              <a:solidFill>
                <a:srgbClr val="C7BCB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0</a:t>
            </a:r>
            <a:r>
              <a:rPr lang="en-US" sz="1200" b="1">
                <a:solidFill>
                  <a:srgbClr val="C7BCB0"/>
                </a:solidFill>
              </a:rPr>
              <a:t>6</a:t>
            </a:r>
            <a:r>
              <a:rPr sz="1200" b="1">
                <a:solidFill>
                  <a:srgbClr val="C7BCB0"/>
                </a:solidFill>
              </a:rPr>
              <a:t> / </a:t>
            </a:r>
            <a:r>
              <a:rPr lang="zh-CN" sz="1200" b="1">
                <a:solidFill>
                  <a:srgbClr val="C7BCB0"/>
                </a:solidFill>
              </a:rPr>
              <a:t>竞争</a:t>
            </a:r>
            <a:r>
              <a:rPr lang="zh-CN" sz="1200" b="1">
                <a:solidFill>
                  <a:srgbClr val="C7BCB0"/>
                </a:solidFill>
              </a:rPr>
              <a:t>壁垒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23900"/>
            <a:ext cx="1125474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7F2EA"/>
                </a:solidFill>
              </a:defRPr>
            </a:pPr>
            <a:r>
              <a:rPr sz="3450" b="1">
                <a:solidFill>
                  <a:srgbClr val="F7F2EA"/>
                </a:solidFill>
              </a:rPr>
              <a:t>壁垒来自</a:t>
            </a:r>
            <a:r>
              <a:rPr lang="zh-CN" sz="3450" b="1">
                <a:solidFill>
                  <a:srgbClr val="F7F2EA"/>
                </a:solidFill>
              </a:rPr>
              <a:t>用需求的认知、极致体验、与数据资产的</a:t>
            </a:r>
            <a:r>
              <a:rPr lang="zh-CN" sz="3450" b="1">
                <a:solidFill>
                  <a:srgbClr val="F7F2EA"/>
                </a:solidFill>
              </a:rPr>
              <a:t>积累</a:t>
            </a:r>
            <a:endParaRPr lang="zh-CN" sz="345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14350" y="1809750"/>
            <a:ext cx="5372100" cy="10668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04850" y="1981200"/>
            <a:ext cx="499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lang="zh-CN" altLang="en-US" sz="1650" b="1">
                <a:solidFill>
                  <a:srgbClr val="F7F2EA"/>
                </a:solidFill>
              </a:rPr>
              <a:t>需求</a:t>
            </a:r>
            <a:r>
              <a:rPr lang="zh-CN" altLang="en-US" sz="1650" b="1">
                <a:solidFill>
                  <a:srgbClr val="F7F2EA"/>
                </a:solidFill>
              </a:rPr>
              <a:t>共创</a:t>
            </a:r>
            <a:endParaRPr lang="zh-CN" altLang="en-US" sz="1650" b="1">
              <a:solidFill>
                <a:srgbClr val="F7F2E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04850" y="2324100"/>
            <a:ext cx="499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lang="zh-CN">
                <a:sym typeface="+mn-ea"/>
              </a:rPr>
              <a:t>通过用户的深入沟通互动，与用户共创，共同迭代</a:t>
            </a:r>
            <a:r>
              <a:rPr lang="zh-CN">
                <a:sym typeface="+mn-ea"/>
              </a:rPr>
              <a:t>产品</a:t>
            </a:r>
            <a:endParaRPr lang="zh-CN">
              <a:sym typeface="+mn-ea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05550" y="1809750"/>
            <a:ext cx="5372100" cy="10668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96050" y="1981200"/>
            <a:ext cx="499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lang="zh-CN" sz="1650" b="1">
                <a:solidFill>
                  <a:srgbClr val="F7F2EA"/>
                </a:solidFill>
              </a:rPr>
              <a:t>极致</a:t>
            </a:r>
            <a:r>
              <a:rPr lang="zh-CN" sz="1650" b="1">
                <a:solidFill>
                  <a:srgbClr val="F7F2EA"/>
                </a:solidFill>
              </a:rPr>
              <a:t>体验</a:t>
            </a:r>
            <a:endParaRPr lang="zh-CN" sz="1650" b="1">
              <a:solidFill>
                <a:srgbClr val="F7F2E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96050" y="2324100"/>
            <a:ext cx="499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lang="zh-CN" sz="1200" b="0">
                <a:solidFill>
                  <a:srgbClr val="C7BCB0"/>
                </a:solidFill>
              </a:rPr>
              <a:t>在用户体验的主流程上，不断地迭代优化，打造极致</a:t>
            </a:r>
            <a:r>
              <a:rPr lang="zh-CN" sz="1200" b="0">
                <a:solidFill>
                  <a:srgbClr val="C7BCB0"/>
                </a:solidFill>
              </a:rPr>
              <a:t>体验</a:t>
            </a:r>
            <a:endParaRPr lang="zh-CN" sz="1200" b="0">
              <a:solidFill>
                <a:srgbClr val="C7BCB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14350" y="3105150"/>
            <a:ext cx="5372100" cy="10668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04850" y="3276600"/>
            <a:ext cx="499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lang="zh-CN" sz="1650" b="1">
                <a:solidFill>
                  <a:srgbClr val="F7F2EA"/>
                </a:solidFill>
              </a:rPr>
              <a:t>快速</a:t>
            </a:r>
            <a:r>
              <a:rPr lang="zh-CN" sz="1650" b="1">
                <a:solidFill>
                  <a:srgbClr val="F7F2EA"/>
                </a:solidFill>
              </a:rPr>
              <a:t>交付</a:t>
            </a:r>
            <a:endParaRPr lang="zh-CN" sz="1650" b="1">
              <a:solidFill>
                <a:srgbClr val="F7F2E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04850" y="3619500"/>
            <a:ext cx="499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lang="zh-CN" sz="1200" b="0">
                <a:solidFill>
                  <a:srgbClr val="C7BCB0"/>
                </a:solidFill>
              </a:rPr>
              <a:t>不求完美，快速迭代，用户反馈问题第一时间修复</a:t>
            </a:r>
            <a:r>
              <a:rPr lang="zh-CN" sz="1200" b="0">
                <a:solidFill>
                  <a:srgbClr val="C7BCB0"/>
                </a:solidFill>
              </a:rPr>
              <a:t>上线</a:t>
            </a:r>
            <a:endParaRPr lang="zh-CN" sz="1200" b="0">
              <a:solidFill>
                <a:srgbClr val="C7BCB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305550" y="3105150"/>
            <a:ext cx="5372100" cy="10668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96050" y="3276600"/>
            <a:ext cx="499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lang="zh-CN" sz="1650" b="1">
                <a:solidFill>
                  <a:srgbClr val="F7F2EA"/>
                </a:solidFill>
              </a:rPr>
              <a:t>入口</a:t>
            </a:r>
            <a:r>
              <a:rPr lang="zh-CN" sz="1650" b="1">
                <a:solidFill>
                  <a:srgbClr val="F7F2EA"/>
                </a:solidFill>
              </a:rPr>
              <a:t>优势</a:t>
            </a:r>
            <a:endParaRPr lang="zh-CN" sz="1650" b="1">
              <a:solidFill>
                <a:srgbClr val="F7F2E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496050" y="3619500"/>
            <a:ext cx="499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lang="zh-CN" altLang="en-US" sz="1200" b="0">
                <a:solidFill>
                  <a:srgbClr val="C7BCB0"/>
                </a:solidFill>
              </a:rPr>
              <a:t>插件天然嵌入浏览器，靠近用户真实的信息获取和工作场景</a:t>
            </a:r>
            <a:endParaRPr lang="zh-CN" altLang="en-US" sz="1200" b="0">
              <a:solidFill>
                <a:srgbClr val="C7BCB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14350" y="4400550"/>
            <a:ext cx="5372100" cy="10668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04850" y="4572000"/>
            <a:ext cx="499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lang="zh-CN" sz="1650" b="1">
                <a:solidFill>
                  <a:srgbClr val="F7F2EA"/>
                </a:solidFill>
              </a:rPr>
              <a:t>数据</a:t>
            </a:r>
            <a:r>
              <a:rPr lang="zh-CN" sz="1650" b="1">
                <a:solidFill>
                  <a:srgbClr val="F7F2EA"/>
                </a:solidFill>
              </a:rPr>
              <a:t>资产</a:t>
            </a:r>
            <a:endParaRPr lang="zh-CN" sz="1650" b="1">
              <a:solidFill>
                <a:srgbClr val="F7F2E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04850" y="4914900"/>
            <a:ext cx="499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lang="zh-CN" altLang="en-US" sz="1200" b="0">
                <a:solidFill>
                  <a:srgbClr val="C7BCB0"/>
                </a:solidFill>
              </a:rPr>
              <a:t>用户的问题、比较行为、收藏和分享结果，会逐步形成个性化的</a:t>
            </a:r>
            <a:r>
              <a:rPr lang="en-US" altLang="zh-CN" sz="1200" b="0">
                <a:solidFill>
                  <a:srgbClr val="C7BCB0"/>
                </a:solidFill>
              </a:rPr>
              <a:t> AI </a:t>
            </a:r>
            <a:r>
              <a:rPr lang="zh-CN" altLang="en-US" sz="1200" b="0">
                <a:solidFill>
                  <a:srgbClr val="C7BCB0"/>
                </a:solidFill>
              </a:rPr>
              <a:t>使用资产</a:t>
            </a:r>
            <a:endParaRPr lang="zh-CN" altLang="en-US" sz="1200" b="0">
              <a:solidFill>
                <a:srgbClr val="C7BCB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350" y="59055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护城河：模型变化很快，但用户入口、适配资产和历史数据会复利。</a:t>
            </a:r>
            <a:endParaRPr sz="1800" b="1">
              <a:solidFill>
                <a:srgbClr val="F7F2E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311900" y="4402455"/>
            <a:ext cx="5372100" cy="10668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502400" y="4573905"/>
            <a:ext cx="499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7F2EA"/>
                </a:solidFill>
              </a:defRPr>
            </a:pPr>
            <a:r>
              <a:rPr lang="zh-CN" sz="1650" b="1">
                <a:solidFill>
                  <a:srgbClr val="F7F2EA"/>
                </a:solidFill>
              </a:rPr>
              <a:t>隐私</a:t>
            </a:r>
            <a:r>
              <a:rPr lang="zh-CN" sz="1650" b="1">
                <a:solidFill>
                  <a:srgbClr val="F7F2EA"/>
                </a:solidFill>
              </a:rPr>
              <a:t>保护</a:t>
            </a:r>
            <a:endParaRPr lang="zh-CN" sz="1650" b="1">
              <a:solidFill>
                <a:srgbClr val="F7F2E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502400" y="4916805"/>
            <a:ext cx="499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7BCB0"/>
                </a:solidFill>
              </a:defRPr>
            </a:pPr>
            <a:r>
              <a:rPr lang="zh-CN" sz="1200" b="0">
                <a:solidFill>
                  <a:srgbClr val="C7BCB0"/>
                </a:solidFill>
              </a:rPr>
              <a:t>所有的</a:t>
            </a:r>
            <a:r>
              <a:rPr lang="zh-CN" sz="1200" b="0">
                <a:solidFill>
                  <a:srgbClr val="C7BCB0"/>
                </a:solidFill>
              </a:rPr>
              <a:t>行为记录保存在</a:t>
            </a:r>
            <a:r>
              <a:rPr lang="zh-CN" sz="1200" b="0">
                <a:solidFill>
                  <a:srgbClr val="C7BCB0"/>
                </a:solidFill>
              </a:rPr>
              <a:t>本地</a:t>
            </a:r>
            <a:endParaRPr lang="zh-CN" sz="1200" b="0">
              <a:solidFill>
                <a:srgbClr val="C7BCB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0</a:t>
            </a:r>
            <a:r>
              <a:rPr lang="en-US" sz="1200" b="1">
                <a:solidFill>
                  <a:srgbClr val="C7BCB0"/>
                </a:solidFill>
              </a:rPr>
              <a:t>7</a:t>
            </a:r>
            <a:r>
              <a:rPr sz="1200" b="1">
                <a:solidFill>
                  <a:srgbClr val="C7BCB0"/>
                </a:solidFill>
              </a:rPr>
              <a:t> / </a:t>
            </a:r>
            <a:r>
              <a:rPr lang="zh-CN" sz="1200" b="1">
                <a:solidFill>
                  <a:srgbClr val="C7BCB0"/>
                </a:solidFill>
              </a:rPr>
              <a:t>团队</a:t>
            </a:r>
            <a:endParaRPr lang="zh-CN"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23900"/>
            <a:ext cx="1126553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7F2EA"/>
                </a:solidFill>
              </a:defRPr>
            </a:pPr>
            <a:r>
              <a:rPr lang="en-US" sz="3450" b="1">
                <a:solidFill>
                  <a:srgbClr val="F7F2EA"/>
                </a:solidFill>
              </a:rPr>
              <a:t>OPC</a:t>
            </a:r>
            <a:r>
              <a:rPr lang="zh-CN" altLang="en-US" sz="3450" b="1">
                <a:solidFill>
                  <a:srgbClr val="F7F2EA"/>
                </a:solidFill>
              </a:rPr>
              <a:t>独立开发</a:t>
            </a:r>
            <a:r>
              <a:rPr lang="zh-CN" altLang="en-US" sz="3450" b="1">
                <a:solidFill>
                  <a:srgbClr val="F7F2EA"/>
                </a:solidFill>
              </a:rPr>
              <a:t>项目</a:t>
            </a:r>
            <a:endParaRPr lang="zh-CN" altLang="en-US" sz="345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14350" y="1790700"/>
            <a:ext cx="3429000" cy="34290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400550" y="1790700"/>
            <a:ext cx="3429000" cy="34290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286750" y="1790700"/>
            <a:ext cx="3429000" cy="342900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81050" y="21526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7F2EA"/>
                </a:solidFill>
              </a:defRPr>
            </a:pPr>
            <a:r>
              <a:rPr lang="en-US" sz="2250" b="1">
                <a:solidFill>
                  <a:srgbClr val="F7F2EA"/>
                </a:solidFill>
              </a:rPr>
              <a:t>OPC</a:t>
            </a:r>
            <a:r>
              <a:rPr lang="zh-CN" altLang="en-US" sz="2250" b="1">
                <a:solidFill>
                  <a:srgbClr val="F7F2EA"/>
                </a:solidFill>
              </a:rPr>
              <a:t>模式</a:t>
            </a:r>
            <a:endParaRPr lang="zh-CN" altLang="en-US" sz="2250" b="1">
              <a:solidFill>
                <a:srgbClr val="F7F2E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81050" y="2857500"/>
            <a:ext cx="283400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C7BCB0"/>
                </a:solidFill>
              </a:defRPr>
            </a:pPr>
            <a:r>
              <a:rPr lang="zh-CN" sz="1650" b="0">
                <a:solidFill>
                  <a:srgbClr val="C7BCB0"/>
                </a:solidFill>
              </a:rPr>
              <a:t>作者：胡佩</a:t>
            </a:r>
            <a:r>
              <a:rPr lang="zh-CN" sz="1650" b="0">
                <a:solidFill>
                  <a:srgbClr val="C7BCB0"/>
                </a:solidFill>
              </a:rPr>
              <a:t>涛</a:t>
            </a:r>
            <a:endParaRPr lang="zh-CN" sz="1650" b="0">
              <a:solidFill>
                <a:srgbClr val="C7BCB0"/>
              </a:solidFill>
            </a:endParaRPr>
          </a:p>
          <a:p>
            <a:pPr algn="l">
              <a:defRPr sz="1650" b="0">
                <a:solidFill>
                  <a:srgbClr val="C7BCB0"/>
                </a:solidFill>
              </a:defRPr>
            </a:pPr>
            <a:r>
              <a:rPr lang="zh-CN" sz="1650" b="0">
                <a:solidFill>
                  <a:srgbClr val="C7BCB0"/>
                </a:solidFill>
              </a:rPr>
              <a:t>一人通过</a:t>
            </a:r>
            <a:r>
              <a:rPr lang="en-US" altLang="zh-CN" sz="1650" b="0">
                <a:solidFill>
                  <a:srgbClr val="C7BCB0"/>
                </a:solidFill>
              </a:rPr>
              <a:t>vibe coding</a:t>
            </a:r>
            <a:r>
              <a:rPr lang="zh-CN" altLang="en-US" sz="1650" b="0">
                <a:solidFill>
                  <a:srgbClr val="C7BCB0"/>
                </a:solidFill>
              </a:rPr>
              <a:t>的方式，开发、运营此插件</a:t>
            </a:r>
            <a:endParaRPr lang="zh-CN" altLang="en-US" sz="1650" b="0">
              <a:solidFill>
                <a:srgbClr val="C7BCB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67250" y="21526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7F2EA"/>
                </a:solidFill>
              </a:defRPr>
            </a:pPr>
            <a:r>
              <a:rPr lang="en-US" altLang="zh-CN" sz="2250" b="1">
                <a:solidFill>
                  <a:srgbClr val="F7F2EA"/>
                </a:solidFill>
              </a:rPr>
              <a:t>10</a:t>
            </a:r>
            <a:r>
              <a:rPr lang="zh-CN" altLang="en-US" sz="2250" b="1">
                <a:solidFill>
                  <a:srgbClr val="F7F2EA"/>
                </a:solidFill>
              </a:rPr>
              <a:t>年</a:t>
            </a:r>
            <a:r>
              <a:rPr lang="en-US" altLang="zh-CN" sz="2250" b="1">
                <a:solidFill>
                  <a:srgbClr val="F7F2EA"/>
                </a:solidFill>
              </a:rPr>
              <a:t>AI</a:t>
            </a:r>
            <a:r>
              <a:rPr lang="zh-CN" sz="2250" b="1">
                <a:solidFill>
                  <a:srgbClr val="F7F2EA"/>
                </a:solidFill>
              </a:rPr>
              <a:t>产品</a:t>
            </a:r>
            <a:r>
              <a:rPr lang="zh-CN" sz="2250" b="1">
                <a:solidFill>
                  <a:srgbClr val="F7F2EA"/>
                </a:solidFill>
              </a:rPr>
              <a:t>经理</a:t>
            </a:r>
            <a:endParaRPr lang="zh-CN" sz="2250" b="1">
              <a:solidFill>
                <a:srgbClr val="F7F2E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67250" y="2857500"/>
            <a:ext cx="29178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C7BCB0"/>
                </a:solidFill>
              </a:defRPr>
            </a:pPr>
            <a:r>
              <a:rPr lang="zh-CN" altLang="en-US" sz="1650" b="0">
                <a:solidFill>
                  <a:srgbClr val="C7BCB0"/>
                </a:solidFill>
              </a:rPr>
              <a:t>在字节、云从等公司从事</a:t>
            </a:r>
            <a:r>
              <a:rPr lang="en-US" altLang="zh-CN" sz="1650" b="0">
                <a:solidFill>
                  <a:srgbClr val="C7BCB0"/>
                </a:solidFill>
              </a:rPr>
              <a:t>AI</a:t>
            </a:r>
            <a:r>
              <a:rPr lang="zh-CN" altLang="en-US" sz="1650" b="0">
                <a:solidFill>
                  <a:srgbClr val="C7BCB0"/>
                </a:solidFill>
              </a:rPr>
              <a:t>产品工作。</a:t>
            </a:r>
            <a:endParaRPr lang="zh-CN" altLang="en-US" sz="1650" b="0">
              <a:solidFill>
                <a:srgbClr val="C7BCB0"/>
              </a:solidFill>
            </a:endParaRPr>
          </a:p>
          <a:p>
            <a:pPr algn="l">
              <a:defRPr sz="1650" b="0">
                <a:solidFill>
                  <a:srgbClr val="C7BCB0"/>
                </a:solidFill>
              </a:defRPr>
            </a:pPr>
            <a:r>
              <a:rPr lang="zh-CN" sz="1650" b="0">
                <a:solidFill>
                  <a:srgbClr val="C7BCB0"/>
                </a:solidFill>
              </a:rPr>
              <a:t>对于用户的痛点、爽点，</a:t>
            </a:r>
            <a:r>
              <a:rPr lang="zh-CN" sz="1650" b="0">
                <a:solidFill>
                  <a:srgbClr val="C7BCB0"/>
                </a:solidFill>
              </a:rPr>
              <a:t>有深入</a:t>
            </a:r>
            <a:r>
              <a:rPr lang="zh-CN" sz="1650" b="0">
                <a:solidFill>
                  <a:srgbClr val="C7BCB0"/>
                </a:solidFill>
              </a:rPr>
              <a:t>理解</a:t>
            </a:r>
            <a:endParaRPr lang="zh-CN" sz="1650" b="0">
              <a:solidFill>
                <a:srgbClr val="C7BCB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553450" y="21526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7F2EA"/>
                </a:solidFill>
              </a:defRPr>
            </a:pPr>
            <a:r>
              <a:rPr lang="zh-CN" altLang="en-US" sz="2250" b="1">
                <a:solidFill>
                  <a:srgbClr val="F7F2EA"/>
                </a:solidFill>
              </a:rPr>
              <a:t>联系方式</a:t>
            </a:r>
            <a:endParaRPr lang="zh-CN" altLang="en-US" sz="2250" b="1">
              <a:solidFill>
                <a:srgbClr val="F7F2E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553450" y="2857500"/>
            <a:ext cx="2873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C7BCB0"/>
                </a:solidFill>
              </a:defRPr>
            </a:pPr>
            <a:r>
              <a:rPr lang="zh-CN" sz="1650" b="0">
                <a:solidFill>
                  <a:srgbClr val="C7BCB0"/>
                </a:solidFill>
              </a:rPr>
              <a:t>电话</a:t>
            </a:r>
            <a:r>
              <a:rPr lang="en-US" altLang="zh-CN" sz="1650" b="0">
                <a:solidFill>
                  <a:srgbClr val="C7BCB0"/>
                </a:solidFill>
              </a:rPr>
              <a:t>/</a:t>
            </a:r>
            <a:r>
              <a:rPr lang="zh-CN" altLang="en-US" sz="1650" b="0">
                <a:solidFill>
                  <a:srgbClr val="C7BCB0"/>
                </a:solidFill>
              </a:rPr>
              <a:t>微信</a:t>
            </a:r>
            <a:r>
              <a:rPr lang="zh-CN" sz="1650" b="0">
                <a:solidFill>
                  <a:srgbClr val="C7BCB0"/>
                </a:solidFill>
              </a:rPr>
              <a:t>：</a:t>
            </a:r>
            <a:r>
              <a:rPr lang="en-US" altLang="zh-CN" sz="1650" b="0">
                <a:solidFill>
                  <a:srgbClr val="C7BCB0"/>
                </a:solidFill>
              </a:rPr>
              <a:t>13718710115</a:t>
            </a:r>
            <a:endParaRPr lang="en-US" altLang="zh-CN" sz="1650" b="0">
              <a:solidFill>
                <a:srgbClr val="C7BCB0"/>
              </a:solidFill>
            </a:endParaRPr>
          </a:p>
          <a:p>
            <a:pPr algn="l">
              <a:defRPr sz="1650" b="0">
                <a:solidFill>
                  <a:srgbClr val="C7BCB0"/>
                </a:solidFill>
              </a:defRPr>
            </a:pPr>
            <a:endParaRPr lang="en-US" altLang="zh-CN" sz="1650" b="0">
              <a:solidFill>
                <a:srgbClr val="C7BCB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7A3D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0"/>
            <a:ext cx="1524000" cy="76200"/>
          </a:xfrm>
          <a:prstGeom prst="rect">
            <a:avLst/>
          </a:prstGeom>
          <a:solidFill>
            <a:srgbClr val="F5C57B"/>
          </a:solidFill>
          <a:ln w="9525">
            <a:solidFill>
              <a:srgbClr val="F5C57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6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C7BCB0"/>
                </a:solidFill>
              </a:defRPr>
            </a:pPr>
            <a:r>
              <a:rPr sz="1200" b="1">
                <a:solidFill>
                  <a:srgbClr val="C7BCB0"/>
                </a:solidFill>
              </a:rPr>
              <a:t>10 / Roadmap</a:t>
            </a:r>
            <a:endParaRPr sz="1200" b="1">
              <a:solidFill>
                <a:srgbClr val="C7BCB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723900"/>
            <a:ext cx="11223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7F2EA"/>
                </a:solidFill>
              </a:defRPr>
            </a:pPr>
            <a:r>
              <a:rPr lang="en-US" sz="3450" b="1">
                <a:solidFill>
                  <a:srgbClr val="F7F2EA"/>
                </a:solidFill>
              </a:rPr>
              <a:t>6 </a:t>
            </a:r>
            <a:r>
              <a:rPr sz="3450" b="1">
                <a:solidFill>
                  <a:srgbClr val="F7F2EA"/>
                </a:solidFill>
              </a:rPr>
              <a:t>个月路线图：从</a:t>
            </a:r>
            <a:r>
              <a:rPr lang="zh-CN" sz="3450" b="1">
                <a:solidFill>
                  <a:srgbClr val="F7F2EA"/>
                </a:solidFill>
              </a:rPr>
              <a:t>信息型</a:t>
            </a:r>
            <a:r>
              <a:rPr sz="3450" b="1">
                <a:solidFill>
                  <a:srgbClr val="F7F2EA"/>
                </a:solidFill>
              </a:rPr>
              <a:t>插件走向</a:t>
            </a:r>
            <a:r>
              <a:rPr lang="zh-CN" sz="3450" b="1">
                <a:solidFill>
                  <a:srgbClr val="F7F2EA"/>
                </a:solidFill>
              </a:rPr>
              <a:t>结果交付</a:t>
            </a:r>
            <a:r>
              <a:rPr lang="zh-CN" sz="3450" b="1">
                <a:solidFill>
                  <a:srgbClr val="F7F2EA"/>
                </a:solidFill>
              </a:rPr>
              <a:t>平台</a:t>
            </a:r>
            <a:endParaRPr lang="zh-CN" sz="3450" b="1">
              <a:solidFill>
                <a:srgbClr val="F7F2E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0" y="2095500"/>
            <a:ext cx="2286000" cy="29146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57250" y="2343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7F2EA"/>
                </a:solidFill>
              </a:defRPr>
            </a:pPr>
            <a:r>
              <a:rPr lang="en-US" sz="1800" b="1">
                <a:solidFill>
                  <a:srgbClr val="F7F2EA"/>
                </a:solidFill>
              </a:rPr>
              <a:t>MVP</a:t>
            </a:r>
            <a:r>
              <a:rPr lang="zh-CN" altLang="en-US" sz="1800" b="1">
                <a:solidFill>
                  <a:srgbClr val="F7F2EA"/>
                </a:solidFill>
                <a:ea typeface="宋体" charset="0"/>
              </a:rPr>
              <a:t>（</a:t>
            </a:r>
            <a:r>
              <a:rPr lang="zh-CN" altLang="en-US" sz="1800" b="1">
                <a:solidFill>
                  <a:srgbClr val="F7F2EA"/>
                </a:solidFill>
                <a:ea typeface="宋体" charset="0"/>
              </a:rPr>
              <a:t>已完成）</a:t>
            </a:r>
            <a:endParaRPr lang="zh-CN" altLang="en-US" sz="1800" b="1">
              <a:solidFill>
                <a:srgbClr val="F7F2EA"/>
              </a:solidFill>
              <a:ea typeface="宋体" charset="0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57250" y="289560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7F2EA"/>
                </a:solidFill>
              </a:defRPr>
            </a:pPr>
            <a:r>
              <a:rPr sz="2100" b="1">
                <a:solidFill>
                  <a:srgbClr val="F7F2EA"/>
                </a:solidFill>
              </a:rPr>
              <a:t>打磨插件核心体验</a:t>
            </a:r>
            <a:endParaRPr sz="2100" b="1">
              <a:solidFill>
                <a:srgbClr val="F7F2E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57250" y="37338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7BCB0"/>
                </a:solidFill>
              </a:defRPr>
            </a:pPr>
            <a:r>
              <a:rPr lang="zh-CN" sz="1425" b="0">
                <a:solidFill>
                  <a:srgbClr val="C7BCB0"/>
                </a:solidFill>
              </a:rPr>
              <a:t>完成</a:t>
            </a:r>
            <a:r>
              <a:rPr lang="en-US" altLang="zh-CN" sz="1425" b="0">
                <a:solidFill>
                  <a:srgbClr val="C7BCB0"/>
                </a:solidFill>
              </a:rPr>
              <a:t>AI</a:t>
            </a:r>
            <a:r>
              <a:rPr lang="zh-CN" altLang="en-US" sz="1425" b="0">
                <a:solidFill>
                  <a:srgbClr val="C7BCB0"/>
                </a:solidFill>
              </a:rPr>
              <a:t>对比、分享、收藏等核心</a:t>
            </a:r>
            <a:r>
              <a:rPr lang="zh-CN" altLang="en-US" sz="1425" b="0">
                <a:solidFill>
                  <a:srgbClr val="C7BCB0"/>
                </a:solidFill>
              </a:rPr>
              <a:t>能力</a:t>
            </a:r>
            <a:endParaRPr lang="zh-CN" altLang="en-US" sz="1425" b="0">
              <a:solidFill>
                <a:srgbClr val="C7BCB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24250" y="2095500"/>
            <a:ext cx="2286000" cy="2914650"/>
          </a:xfrm>
          <a:prstGeom prst="rect">
            <a:avLst/>
          </a:prstGeom>
          <a:solidFill>
            <a:srgbClr val="3A2C24"/>
          </a:solidFill>
          <a:ln w="9525">
            <a:solidFill>
              <a:srgbClr val="FF7A3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714750" y="2343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7A3D"/>
                </a:solidFill>
              </a:defRPr>
            </a:pPr>
            <a:r>
              <a:rPr lang="en-US" sz="1800" b="1">
                <a:solidFill>
                  <a:srgbClr val="FF7A3D"/>
                </a:solidFill>
              </a:rPr>
              <a:t>0</a:t>
            </a:r>
            <a:r>
              <a:rPr sz="1800" b="1">
                <a:solidFill>
                  <a:srgbClr val="FF7A3D"/>
                </a:solidFill>
              </a:rPr>
              <a:t>-</a:t>
            </a:r>
            <a:r>
              <a:rPr lang="en-US" sz="1800" b="1">
                <a:solidFill>
                  <a:srgbClr val="FF7A3D"/>
                </a:solidFill>
              </a:rPr>
              <a:t>3</a:t>
            </a:r>
            <a:r>
              <a:rPr sz="1800" b="1">
                <a:solidFill>
                  <a:srgbClr val="FF7A3D"/>
                </a:solidFill>
              </a:rPr>
              <a:t> 个月</a:t>
            </a:r>
            <a:endParaRPr sz="1800" b="1">
              <a:solidFill>
                <a:srgbClr val="FF7A3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714750" y="289560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7F2EA"/>
                </a:solidFill>
              </a:defRPr>
            </a:pPr>
            <a:r>
              <a:rPr sz="2100" b="1">
                <a:solidFill>
                  <a:srgbClr val="F7F2EA"/>
                </a:solidFill>
              </a:rPr>
              <a:t>商业化</a:t>
            </a:r>
            <a:endParaRPr sz="2100" b="1">
              <a:solidFill>
                <a:srgbClr val="F7F2E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714750" y="37338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7BCB0"/>
                </a:solidFill>
              </a:defRPr>
            </a:pPr>
            <a:r>
              <a:rPr sz="1425" b="0">
                <a:solidFill>
                  <a:srgbClr val="C7BCB0"/>
                </a:solidFill>
              </a:rPr>
              <a:t>Pro 订阅、API 计量、用户分层</a:t>
            </a:r>
            <a:endParaRPr sz="1425" b="0">
              <a:solidFill>
                <a:srgbClr val="C7BCB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81750" y="2095500"/>
            <a:ext cx="2286000" cy="29146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572250" y="2343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7F2EA"/>
                </a:solidFill>
              </a:defRPr>
            </a:pPr>
            <a:r>
              <a:rPr lang="en-US" sz="1800" b="1">
                <a:solidFill>
                  <a:srgbClr val="F7F2EA"/>
                </a:solidFill>
              </a:rPr>
              <a:t>4</a:t>
            </a:r>
            <a:r>
              <a:rPr sz="1800" b="1">
                <a:solidFill>
                  <a:srgbClr val="F7F2EA"/>
                </a:solidFill>
              </a:rPr>
              <a:t>-</a:t>
            </a:r>
            <a:r>
              <a:rPr lang="en-US" sz="1800" b="1">
                <a:solidFill>
                  <a:srgbClr val="F7F2EA"/>
                </a:solidFill>
              </a:rPr>
              <a:t>6</a:t>
            </a:r>
            <a:r>
              <a:rPr sz="1800" b="1">
                <a:solidFill>
                  <a:srgbClr val="F7F2EA"/>
                </a:solidFill>
              </a:rPr>
              <a:t> 个月</a:t>
            </a:r>
            <a:endParaRPr sz="1800" b="1">
              <a:solidFill>
                <a:srgbClr val="F7F2E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572250" y="289560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7F2EA"/>
                </a:solidFill>
              </a:defRPr>
            </a:pPr>
            <a:r>
              <a:rPr lang="zh-CN" sz="2100" b="1">
                <a:solidFill>
                  <a:srgbClr val="F7F2EA"/>
                </a:solidFill>
              </a:rPr>
              <a:t>增长</a:t>
            </a:r>
            <a:endParaRPr lang="zh-CN" sz="2100" b="1">
              <a:solidFill>
                <a:srgbClr val="F7F2E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572250" y="37338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7BCB0"/>
                </a:solidFill>
              </a:defRPr>
            </a:pPr>
            <a:r>
              <a:rPr lang="zh-CN" sz="1425" b="0">
                <a:solidFill>
                  <a:srgbClr val="C7BCB0"/>
                </a:solidFill>
              </a:rPr>
              <a:t>设计增加机制，通过体系化地运营手段，实现用户</a:t>
            </a:r>
            <a:r>
              <a:rPr lang="zh-CN" sz="1425" b="0">
                <a:solidFill>
                  <a:srgbClr val="C7BCB0"/>
                </a:solidFill>
              </a:rPr>
              <a:t>增长</a:t>
            </a:r>
            <a:endParaRPr lang="zh-CN" sz="1425" b="0">
              <a:solidFill>
                <a:srgbClr val="C7BCB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239250" y="2095500"/>
            <a:ext cx="2286000" cy="2914650"/>
          </a:xfrm>
          <a:prstGeom prst="rect">
            <a:avLst/>
          </a:prstGeom>
          <a:solidFill>
            <a:srgbClr val="2D2B28"/>
          </a:solidFill>
          <a:ln w="9525">
            <a:solidFill>
              <a:srgbClr val="57504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429750" y="2343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7F2EA"/>
                </a:solidFill>
              </a:defRPr>
            </a:pPr>
            <a:r>
              <a:rPr lang="en-US" sz="1800" b="1">
                <a:solidFill>
                  <a:srgbClr val="F7F2EA"/>
                </a:solidFill>
              </a:rPr>
              <a:t>7</a:t>
            </a:r>
            <a:r>
              <a:rPr sz="1800" b="1">
                <a:solidFill>
                  <a:srgbClr val="F7F2EA"/>
                </a:solidFill>
              </a:rPr>
              <a:t>-12 个月</a:t>
            </a:r>
            <a:endParaRPr sz="1800" b="1">
              <a:solidFill>
                <a:srgbClr val="F7F2E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429750" y="2895600"/>
            <a:ext cx="180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7F2EA"/>
                </a:solidFill>
              </a:defRPr>
            </a:pPr>
            <a:r>
              <a:rPr lang="en-US" altLang="zh-CN" sz="2100" b="1">
                <a:solidFill>
                  <a:srgbClr val="F7F2EA"/>
                </a:solidFill>
              </a:rPr>
              <a:t>agent</a:t>
            </a:r>
            <a:r>
              <a:rPr lang="zh-CN" altLang="en-US" sz="2100" b="1">
                <a:solidFill>
                  <a:srgbClr val="F7F2EA"/>
                </a:solidFill>
              </a:rPr>
              <a:t>平台</a:t>
            </a:r>
            <a:endParaRPr lang="zh-CN" altLang="en-US" sz="2100" b="1">
              <a:solidFill>
                <a:srgbClr val="F7F2E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429750" y="37338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7BCB0"/>
                </a:solidFill>
              </a:defRPr>
            </a:pPr>
            <a:r>
              <a:rPr lang="zh-CN" sz="1425" b="0">
                <a:solidFill>
                  <a:srgbClr val="C7BCB0"/>
                </a:solidFill>
              </a:rPr>
              <a:t>增加在线</a:t>
            </a:r>
            <a:r>
              <a:rPr lang="en-US" altLang="zh-CN" sz="1425" b="0">
                <a:solidFill>
                  <a:srgbClr val="C7BCB0"/>
                </a:solidFill>
              </a:rPr>
              <a:t>agent</a:t>
            </a:r>
            <a:r>
              <a:rPr lang="zh-CN" altLang="en-US" sz="1425" b="0">
                <a:solidFill>
                  <a:srgbClr val="C7BCB0"/>
                </a:solidFill>
              </a:rPr>
              <a:t>能力，满足更多的用户</a:t>
            </a:r>
            <a:r>
              <a:rPr lang="zh-CN" altLang="en-US" sz="1425" b="0">
                <a:solidFill>
                  <a:srgbClr val="C7BCB0"/>
                </a:solidFill>
              </a:rPr>
              <a:t>场景</a:t>
            </a:r>
            <a:endParaRPr lang="zh-CN" altLang="en-US" sz="1425" b="0">
              <a:solidFill>
                <a:srgbClr val="C7BCB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2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3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4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5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6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7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8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9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0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1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2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3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4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5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6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7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8.xml><?xml version="1.0" encoding="utf-8"?>
<p:tagLst xmlns:p="http://schemas.openxmlformats.org/presentationml/2006/main">
  <p:tag name="KSO_WM_DIAGRAM_VIRTUALLY_FRAME" val="{&quot;height&quot;:288.15,&quot;left&quot;:40.5,&quot;top&quot;:142.5,&quot;width&quot;:879.5}"/>
</p:tagLst>
</file>

<file path=ppt/tags/tag19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0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1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2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3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4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5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6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7.xml><?xml version="1.0" encoding="utf-8"?>
<p:tagLst xmlns:p="http://schemas.openxmlformats.org/presentationml/2006/main">
  <p:tag name="KSO_WM_DIAGRAM_VIRTUALLY_FRAME" val="{&quot;height&quot;:270,&quot;left&quot;:40.5,&quot;top&quot;:141,&quot;width&quot;:882}"/>
</p:tagLst>
</file>

<file path=ppt/tags/tag28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29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0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1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2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3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4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5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6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7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8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39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40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41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42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ags/tag43.xml><?xml version="1.0" encoding="utf-8"?>
<p:tagLst xmlns:p="http://schemas.openxmlformats.org/presentationml/2006/main">
  <p:tag name="KSO_WM_DIAGRAM_VIRTUALLY_FRAME" val="{&quot;height&quot;:229.5,&quot;left&quot;:52.5,&quot;top&quot;:165,&quot;width&quot;:85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WPS 演示</Application>
  <PresentationFormat>Converted Presentation</PresentationFormat>
  <Paragraphs>310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涛</cp:lastModifiedBy>
  <cp:revision>50</cp:revision>
  <dcterms:created xsi:type="dcterms:W3CDTF">2026-06-29T01:27:16Z</dcterms:created>
  <dcterms:modified xsi:type="dcterms:W3CDTF">2026-06-29T01:27:16Z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8CC85CA2A052EAF812223F6A536F7703_42</vt:lpwstr>
  </property>
  <property fmtid="{D5CDD505-2E9C-101B-9397-08002B2CF9AE}" pid="3" name="KSOProductBuildVer">
    <vt:lpwstr>2052-12.1.24031.24031</vt:lpwstr>
  </property>
</Properties>
</file>